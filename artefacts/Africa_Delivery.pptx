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8b9311f53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8b9311f53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122000"/>
            <a:ext cx="7783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Africa Delivery -</a:t>
            </a:r>
            <a:r>
              <a:rPr lang="en" u="sng"/>
              <a:t>Nigeria</a:t>
            </a:r>
            <a:r>
              <a:rPr lang="en"/>
              <a:t>, Kenya, SA, 15 countries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/>
          <p:nvPr/>
        </p:nvSpPr>
        <p:spPr>
          <a:xfrm>
            <a:off x="3839163" y="1006825"/>
            <a:ext cx="15903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Catalog</a:t>
            </a:r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3839163" y="1696500"/>
            <a:ext cx="15903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Ordering</a:t>
            </a:r>
            <a:endParaRPr/>
          </a:p>
        </p:txBody>
      </p:sp>
      <p:sp>
        <p:nvSpPr>
          <p:cNvPr id="57" name="Google Shape;57;p13"/>
          <p:cNvSpPr/>
          <p:nvPr/>
        </p:nvSpPr>
        <p:spPr>
          <a:xfrm>
            <a:off x="3839163" y="2353563"/>
            <a:ext cx="15903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Notifications</a:t>
            </a:r>
            <a:endParaRPr/>
          </a:p>
        </p:txBody>
      </p:sp>
      <p:sp>
        <p:nvSpPr>
          <p:cNvPr id="58" name="Google Shape;58;p13"/>
          <p:cNvSpPr/>
          <p:nvPr/>
        </p:nvSpPr>
        <p:spPr>
          <a:xfrm>
            <a:off x="3839163" y="3026950"/>
            <a:ext cx="15903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Fulfillment</a:t>
            </a:r>
            <a:endParaRPr/>
          </a:p>
        </p:txBody>
      </p:sp>
      <p:sp>
        <p:nvSpPr>
          <p:cNvPr id="59" name="Google Shape;59;p13"/>
          <p:cNvSpPr/>
          <p:nvPr/>
        </p:nvSpPr>
        <p:spPr>
          <a:xfrm>
            <a:off x="2441863" y="3026950"/>
            <a:ext cx="12765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Payments</a:t>
            </a:r>
            <a:endParaRPr/>
          </a:p>
        </p:txBody>
      </p:sp>
      <p:sp>
        <p:nvSpPr>
          <p:cNvPr id="60" name="Google Shape;60;p13"/>
          <p:cNvSpPr txBox="1"/>
          <p:nvPr/>
        </p:nvSpPr>
        <p:spPr>
          <a:xfrm>
            <a:off x="3585900" y="569525"/>
            <a:ext cx="197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Core</a:t>
            </a:r>
            <a:endParaRPr sz="400"/>
          </a:p>
        </p:txBody>
      </p:sp>
      <p:sp>
        <p:nvSpPr>
          <p:cNvPr id="61" name="Google Shape;61;p13"/>
          <p:cNvSpPr/>
          <p:nvPr/>
        </p:nvSpPr>
        <p:spPr>
          <a:xfrm>
            <a:off x="124963" y="1180175"/>
            <a:ext cx="1037100" cy="1889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Sellers</a:t>
            </a:r>
            <a:endParaRPr/>
          </a:p>
        </p:txBody>
      </p:sp>
      <p:sp>
        <p:nvSpPr>
          <p:cNvPr id="62" name="Google Shape;62;p13"/>
          <p:cNvSpPr/>
          <p:nvPr/>
        </p:nvSpPr>
        <p:spPr>
          <a:xfrm>
            <a:off x="7181388" y="1146850"/>
            <a:ext cx="1037100" cy="1889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Delivery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</a:t>
            </a:r>
            <a:endParaRPr/>
          </a:p>
        </p:txBody>
      </p:sp>
      <p:cxnSp>
        <p:nvCxnSpPr>
          <p:cNvPr id="63" name="Google Shape;63;p13"/>
          <p:cNvCxnSpPr>
            <a:endCxn id="55" idx="1"/>
          </p:cNvCxnSpPr>
          <p:nvPr/>
        </p:nvCxnSpPr>
        <p:spPr>
          <a:xfrm flipH="1" rot="10800000">
            <a:off x="1200963" y="1293175"/>
            <a:ext cx="2638200" cy="1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4" name="Google Shape;64;p13"/>
          <p:cNvCxnSpPr>
            <a:stCxn id="59" idx="1"/>
            <a:endCxn id="61" idx="3"/>
          </p:cNvCxnSpPr>
          <p:nvPr/>
        </p:nvCxnSpPr>
        <p:spPr>
          <a:xfrm rot="10800000">
            <a:off x="1162063" y="2125000"/>
            <a:ext cx="1279800" cy="118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5" name="Google Shape;65;p13"/>
          <p:cNvSpPr txBox="1"/>
          <p:nvPr/>
        </p:nvSpPr>
        <p:spPr>
          <a:xfrm>
            <a:off x="124963" y="3140225"/>
            <a:ext cx="1833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u="sng">
                <a:solidFill>
                  <a:schemeClr val="dk2"/>
                </a:solidFill>
              </a:rPr>
              <a:t>40% market share</a:t>
            </a:r>
            <a:endParaRPr sz="1600" u="sng">
              <a:solidFill>
                <a:schemeClr val="dk2"/>
              </a:solidFill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2145163" y="944950"/>
            <a:ext cx="666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API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67" name="Google Shape;67;p13"/>
          <p:cNvSpPr/>
          <p:nvPr/>
        </p:nvSpPr>
        <p:spPr>
          <a:xfrm>
            <a:off x="2260075" y="3801050"/>
            <a:ext cx="1458300" cy="915900"/>
          </a:xfrm>
          <a:prstGeom prst="ellipse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Payment providers (M-PESA)</a:t>
            </a:r>
            <a:endParaRPr/>
          </a:p>
        </p:txBody>
      </p:sp>
      <p:sp>
        <p:nvSpPr>
          <p:cNvPr id="68" name="Google Shape;68;p13"/>
          <p:cNvSpPr/>
          <p:nvPr/>
        </p:nvSpPr>
        <p:spPr>
          <a:xfrm>
            <a:off x="8359238" y="1180175"/>
            <a:ext cx="460800" cy="365400"/>
          </a:xfrm>
          <a:prstGeom prst="smileyFace">
            <a:avLst>
              <a:gd fmla="val 4653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3"/>
          <p:cNvSpPr/>
          <p:nvPr/>
        </p:nvSpPr>
        <p:spPr>
          <a:xfrm>
            <a:off x="2441863" y="2333100"/>
            <a:ext cx="12936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Reports</a:t>
            </a:r>
            <a:endParaRPr/>
          </a:p>
        </p:txBody>
      </p:sp>
      <p:cxnSp>
        <p:nvCxnSpPr>
          <p:cNvPr id="70" name="Google Shape;70;p13"/>
          <p:cNvCxnSpPr>
            <a:endCxn id="62" idx="1"/>
          </p:cNvCxnSpPr>
          <p:nvPr/>
        </p:nvCxnSpPr>
        <p:spPr>
          <a:xfrm>
            <a:off x="5429388" y="1293100"/>
            <a:ext cx="1752000" cy="79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1" name="Google Shape;71;p13"/>
          <p:cNvCxnSpPr>
            <a:stCxn id="62" idx="1"/>
            <a:endCxn id="56" idx="3"/>
          </p:cNvCxnSpPr>
          <p:nvPr/>
        </p:nvCxnSpPr>
        <p:spPr>
          <a:xfrm rot="10800000">
            <a:off x="5429388" y="1982800"/>
            <a:ext cx="1752000" cy="10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2" name="Google Shape;72;p13"/>
          <p:cNvCxnSpPr>
            <a:stCxn id="57" idx="3"/>
            <a:endCxn id="62" idx="1"/>
          </p:cNvCxnSpPr>
          <p:nvPr/>
        </p:nvCxnSpPr>
        <p:spPr>
          <a:xfrm flipH="1" rot="10800000">
            <a:off x="5429463" y="2091813"/>
            <a:ext cx="1752000" cy="54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3" name="Google Shape;73;p13"/>
          <p:cNvSpPr/>
          <p:nvPr/>
        </p:nvSpPr>
        <p:spPr>
          <a:xfrm>
            <a:off x="8359238" y="1777050"/>
            <a:ext cx="460800" cy="365400"/>
          </a:xfrm>
          <a:prstGeom prst="smileyFace">
            <a:avLst>
              <a:gd fmla="val 4653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3"/>
          <p:cNvSpPr/>
          <p:nvPr/>
        </p:nvSpPr>
        <p:spPr>
          <a:xfrm>
            <a:off x="8359238" y="2373925"/>
            <a:ext cx="460800" cy="365400"/>
          </a:xfrm>
          <a:prstGeom prst="smileyFace">
            <a:avLst>
              <a:gd fmla="val 4653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3"/>
          <p:cNvSpPr txBox="1"/>
          <p:nvPr/>
        </p:nvSpPr>
        <p:spPr>
          <a:xfrm>
            <a:off x="7127538" y="3195013"/>
            <a:ext cx="1833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Apple/google/Iphone/Android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76" name="Google Shape;76;p13"/>
          <p:cNvSpPr txBox="1"/>
          <p:nvPr/>
        </p:nvSpPr>
        <p:spPr>
          <a:xfrm>
            <a:off x="6385488" y="3764913"/>
            <a:ext cx="1833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Features from PM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77" name="Google Shape;77;p13"/>
          <p:cNvSpPr txBox="1"/>
          <p:nvPr/>
        </p:nvSpPr>
        <p:spPr>
          <a:xfrm>
            <a:off x="6380838" y="4235700"/>
            <a:ext cx="2638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0000"/>
                </a:solidFill>
              </a:rPr>
              <a:t>GDPR data protection - Minister</a:t>
            </a:r>
            <a:endParaRPr sz="1100">
              <a:solidFill>
                <a:srgbClr val="FF0000"/>
              </a:solidFill>
            </a:endParaRPr>
          </a:p>
        </p:txBody>
      </p:sp>
      <p:sp>
        <p:nvSpPr>
          <p:cNvPr id="78" name="Google Shape;78;p13"/>
          <p:cNvSpPr/>
          <p:nvPr/>
        </p:nvSpPr>
        <p:spPr>
          <a:xfrm>
            <a:off x="3905175" y="3862750"/>
            <a:ext cx="1458300" cy="915900"/>
          </a:xfrm>
          <a:prstGeom prst="ellipse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Logistic providers</a:t>
            </a:r>
            <a:endParaRPr/>
          </a:p>
        </p:txBody>
      </p:sp>
      <p:cxnSp>
        <p:nvCxnSpPr>
          <p:cNvPr id="79" name="Google Shape;79;p13"/>
          <p:cNvCxnSpPr>
            <a:stCxn id="58" idx="2"/>
            <a:endCxn id="78" idx="0"/>
          </p:cNvCxnSpPr>
          <p:nvPr/>
        </p:nvCxnSpPr>
        <p:spPr>
          <a:xfrm>
            <a:off x="4634313" y="3599650"/>
            <a:ext cx="0" cy="26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0" name="Google Shape;80;p13"/>
          <p:cNvCxnSpPr>
            <a:stCxn id="59" idx="2"/>
            <a:endCxn id="67" idx="0"/>
          </p:cNvCxnSpPr>
          <p:nvPr/>
        </p:nvCxnSpPr>
        <p:spPr>
          <a:xfrm flipH="1">
            <a:off x="2989213" y="3599650"/>
            <a:ext cx="90900" cy="20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" name="Google Shape;81;p13"/>
          <p:cNvCxnSpPr>
            <a:stCxn id="76" idx="1"/>
            <a:endCxn id="62" idx="2"/>
          </p:cNvCxnSpPr>
          <p:nvPr/>
        </p:nvCxnSpPr>
        <p:spPr>
          <a:xfrm flipH="1" rot="10800000">
            <a:off x="6385488" y="3036663"/>
            <a:ext cx="1314600" cy="943800"/>
          </a:xfrm>
          <a:prstGeom prst="curvedConnector4">
            <a:avLst>
              <a:gd fmla="val -18114" name="adj1"/>
              <a:gd fmla="val 61425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" name="Google Shape;82;p13"/>
          <p:cNvSpPr/>
          <p:nvPr/>
        </p:nvSpPr>
        <p:spPr>
          <a:xfrm>
            <a:off x="2441873" y="1639250"/>
            <a:ext cx="12936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Inventories</a:t>
            </a:r>
            <a:endParaRPr/>
          </a:p>
        </p:txBody>
      </p:sp>
      <p:sp>
        <p:nvSpPr>
          <p:cNvPr id="83" name="Google Shape;83;p13"/>
          <p:cNvSpPr txBox="1"/>
          <p:nvPr/>
        </p:nvSpPr>
        <p:spPr>
          <a:xfrm>
            <a:off x="240263" y="3697100"/>
            <a:ext cx="1833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TCO- ?? 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84" name="Google Shape;84;p13"/>
          <p:cNvSpPr txBox="1"/>
          <p:nvPr/>
        </p:nvSpPr>
        <p:spPr>
          <a:xfrm>
            <a:off x="240275" y="4716950"/>
            <a:ext cx="2486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00"/>
                </a:solidFill>
              </a:rPr>
              <a:t>СТО: Cloud Native !!!</a:t>
            </a:r>
            <a:endParaRPr sz="1600">
              <a:solidFill>
                <a:srgbClr val="FF0000"/>
              </a:solidFill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1468813" y="2150325"/>
            <a:ext cx="666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API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4713663" y="4716950"/>
            <a:ext cx="1833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u="sng">
                <a:solidFill>
                  <a:schemeClr val="dk2"/>
                </a:solidFill>
              </a:rPr>
              <a:t>couriers</a:t>
            </a:r>
            <a:endParaRPr sz="1600" u="sng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